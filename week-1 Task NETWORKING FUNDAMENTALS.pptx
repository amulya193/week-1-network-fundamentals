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4" r:id="rId2"/>
    <p:sldId id="257" r:id="rId3"/>
    <p:sldId id="285" r:id="rId4"/>
    <p:sldId id="261" r:id="rId5"/>
    <p:sldId id="275" r:id="rId6"/>
    <p:sldId id="262" r:id="rId7"/>
    <p:sldId id="276" r:id="rId8"/>
    <p:sldId id="277" r:id="rId9"/>
    <p:sldId id="279" r:id="rId10"/>
    <p:sldId id="280" r:id="rId11"/>
    <p:sldId id="281" r:id="rId12"/>
    <p:sldId id="282" r:id="rId13"/>
    <p:sldId id="283" r:id="rId14"/>
    <p:sldId id="28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4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94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02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1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9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0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69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8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91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0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03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722DEBC-1969-485E-A6FA-648EE18E37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A18B-2097-43A1-BE1A-05DDCCFB49DB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286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B1E4-919C-542D-5222-4A9E7F16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877" y="3028335"/>
            <a:ext cx="7925262" cy="164198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WEEK 1 TASK </a:t>
            </a:r>
            <a:br>
              <a:rPr lang="en-IN" dirty="0"/>
            </a:br>
            <a:r>
              <a:rPr lang="en-IN" dirty="0"/>
              <a:t>NETWORK FUNDAMENTALS</a:t>
            </a:r>
          </a:p>
        </p:txBody>
      </p:sp>
    </p:spTree>
    <p:extLst>
      <p:ext uri="{BB962C8B-B14F-4D97-AF65-F5344CB8AC3E}">
        <p14:creationId xmlns:p14="http://schemas.microsoft.com/office/powerpoint/2010/main" val="136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71A3-CAB3-9FD4-9A52-3594490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1 : 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9A20E-AA0B-5DC4-2973-3C41AB2DF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OSI MODEL (OPEN SYSTEMS INTERCONNECTION) has 7 layers is a conceptual framework developed by the International</a:t>
            </a:r>
            <a:r>
              <a:rPr lang="en-IN" b="1" dirty="0"/>
              <a:t> </a:t>
            </a:r>
            <a:r>
              <a:rPr lang="en-IN" dirty="0"/>
              <a:t>Organization</a:t>
            </a:r>
            <a:r>
              <a:rPr lang="en-IN" b="1" dirty="0"/>
              <a:t> </a:t>
            </a:r>
            <a:r>
              <a:rPr lang="en-IN" dirty="0"/>
              <a:t>for</a:t>
            </a:r>
            <a:r>
              <a:rPr lang="en-IN" b="1" dirty="0"/>
              <a:t> </a:t>
            </a:r>
            <a:r>
              <a:rPr lang="en-IN" dirty="0"/>
              <a:t>Standardization</a:t>
            </a:r>
            <a:r>
              <a:rPr lang="en-IN" b="1" dirty="0"/>
              <a:t> </a:t>
            </a:r>
            <a:r>
              <a:rPr lang="en-IN" dirty="0"/>
              <a:t>(ISO) to explain how communication takes place between different devices over a network.</a:t>
            </a:r>
          </a:p>
          <a:p>
            <a:r>
              <a:rPr lang="en-IN" dirty="0"/>
              <a:t>The OSI model divides the network into 7 different layers. They are :</a:t>
            </a:r>
          </a:p>
        </p:txBody>
      </p:sp>
    </p:spTree>
    <p:extLst>
      <p:ext uri="{BB962C8B-B14F-4D97-AF65-F5344CB8AC3E}">
        <p14:creationId xmlns:p14="http://schemas.microsoft.com/office/powerpoint/2010/main" val="287330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E809-D643-34C4-F3A4-785D933A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15A3A9-705C-C700-2FD8-122A04BE0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29" y="1023386"/>
            <a:ext cx="8200103" cy="542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8E89-F72A-1E18-517C-01529261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2 : TCP/IP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52C5-1D21-8F02-E6E8-25EC98DB8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55" y="2052116"/>
            <a:ext cx="9242784" cy="3997828"/>
          </a:xfrm>
        </p:spPr>
        <p:txBody>
          <a:bodyPr/>
          <a:lstStyle/>
          <a:p>
            <a:r>
              <a:rPr lang="en-IN" sz="1800" dirty="0"/>
              <a:t>The TCP/IP (Transmission Control Protocol/Internet Protocol) Model is a networking framework used to describe how devices communicate over the Internet and other computer networks.</a:t>
            </a:r>
          </a:p>
          <a:p>
            <a:r>
              <a:rPr lang="en-IN" sz="1800" dirty="0"/>
              <a:t>the TCP/IP model commonly has 4 layers. They are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79E1339-7C03-8C28-A2EA-807180074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996" y="3175820"/>
            <a:ext cx="4944002" cy="328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9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2D4F-1ECF-4E92-F889-333702DD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OSI model and TCP/IP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5491E0-F42F-3E07-4959-59E916484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56551"/>
              </p:ext>
            </p:extLst>
          </p:nvPr>
        </p:nvGraphicFramePr>
        <p:xfrm>
          <a:off x="2419401" y="2023141"/>
          <a:ext cx="7796212" cy="4551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106">
                  <a:extLst>
                    <a:ext uri="{9D8B030D-6E8A-4147-A177-3AD203B41FA5}">
                      <a16:colId xmlns:a16="http://schemas.microsoft.com/office/drawing/2014/main" val="4094213130"/>
                    </a:ext>
                  </a:extLst>
                </a:gridCol>
                <a:gridCol w="3898106">
                  <a:extLst>
                    <a:ext uri="{9D8B030D-6E8A-4147-A177-3AD203B41FA5}">
                      <a16:colId xmlns:a16="http://schemas.microsoft.com/office/drawing/2014/main" val="1016204193"/>
                    </a:ext>
                  </a:extLst>
                </a:gridCol>
              </a:tblGrid>
              <a:tr h="4198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OSI MODEL</a:t>
                      </a:r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TCP/IP MODEL</a:t>
                      </a:r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3342924903"/>
                  </a:ext>
                </a:extLst>
              </a:tr>
              <a:tr h="419895">
                <a:tc>
                  <a:txBody>
                    <a:bodyPr/>
                    <a:lstStyle/>
                    <a:p>
                      <a:r>
                        <a:rPr lang="en-IN" dirty="0"/>
                        <a:t>Open Systems Interconnection</a:t>
                      </a:r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Transmission Control Protocol/Internet Protocol</a:t>
                      </a:r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2764924221"/>
                  </a:ext>
                </a:extLst>
              </a:tr>
              <a:tr h="419895">
                <a:tc>
                  <a:txBody>
                    <a:bodyPr/>
                    <a:lstStyle/>
                    <a:p>
                      <a:r>
                        <a:rPr lang="en-IN" dirty="0"/>
                        <a:t>The number of layers are 7</a:t>
                      </a:r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number of layers are 4</a:t>
                      </a:r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2318167682"/>
                  </a:ext>
                </a:extLst>
              </a:tr>
              <a:tr h="419895">
                <a:tc>
                  <a:txBody>
                    <a:bodyPr/>
                    <a:lstStyle/>
                    <a:p>
                      <a:r>
                        <a:rPr lang="en-IN" dirty="0"/>
                        <a:t>It is developed by ISO</a:t>
                      </a:r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is developed by DARPA/DoD research community</a:t>
                      </a:r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2621294236"/>
                  </a:ext>
                </a:extLst>
              </a:tr>
              <a:tr h="1364657">
                <a:tc>
                  <a:txBody>
                    <a:bodyPr/>
                    <a:lstStyle/>
                    <a:p>
                      <a:r>
                        <a:rPr lang="en-IN" dirty="0"/>
                        <a:t>It is mainly used for learning, design and troubleshooting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It has separate layers 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The Model is protocol-independent</a:t>
                      </a:r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is main used for widely used in real-world Internet networking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It has internals layers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The model built around protocols such as TCP/IP</a:t>
                      </a:r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1253392874"/>
                  </a:ext>
                </a:extLst>
              </a:tr>
              <a:tr h="419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7793" marR="67793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67793" marR="67793"/>
                </a:tc>
                <a:extLst>
                  <a:ext uri="{0D108BD9-81ED-4DB2-BD59-A6C34878D82A}">
                    <a16:rowId xmlns:a16="http://schemas.microsoft.com/office/drawing/2014/main" val="267413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7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B9AD-006C-8066-B7AB-87E84FD0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 : NETWORK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029D-3856-B69C-1AA7-A5DF2BED4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7796540" cy="4465915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A network</a:t>
            </a:r>
            <a:r>
              <a:rPr lang="en-IN" b="1" dirty="0"/>
              <a:t> </a:t>
            </a:r>
            <a:r>
              <a:rPr lang="en-IN" dirty="0"/>
              <a:t>protocol is a set of rules that defines how devices communicate and exchange data over a network.</a:t>
            </a:r>
          </a:p>
          <a:p>
            <a:r>
              <a:rPr lang="en-IN" dirty="0"/>
              <a:t> HTTP / HTTPS : Governs communication between web browsers and web servers</a:t>
            </a:r>
          </a:p>
          <a:p>
            <a:r>
              <a:rPr lang="en-IN" dirty="0"/>
              <a:t>Ex : When you visit a website such as a news website, your browser requests web pages, images, and other resources from the server.</a:t>
            </a:r>
          </a:p>
          <a:p>
            <a:r>
              <a:rPr lang="en-IN" dirty="0"/>
              <a:t> FTP : File</a:t>
            </a:r>
            <a:r>
              <a:rPr lang="en-IN" b="1" dirty="0"/>
              <a:t> </a:t>
            </a:r>
            <a:r>
              <a:rPr lang="en-IN" dirty="0"/>
              <a:t>Transfer</a:t>
            </a:r>
            <a:r>
              <a:rPr lang="en-IN" b="1" dirty="0"/>
              <a:t> </a:t>
            </a:r>
            <a:r>
              <a:rPr lang="en-IN" dirty="0"/>
              <a:t>Protocol is a protocol designed for transferring files between computers over a network.</a:t>
            </a:r>
          </a:p>
          <a:p>
            <a:r>
              <a:rPr lang="en-IN" dirty="0"/>
              <a:t>Ex : Suppose a web developer needs to upload website files to a hosting server. FTP can be used to transfer those files.</a:t>
            </a:r>
          </a:p>
          <a:p>
            <a:r>
              <a:rPr lang="en-IN" dirty="0"/>
              <a:t> DNS : Domain</a:t>
            </a:r>
            <a:r>
              <a:rPr lang="en-IN" b="1" dirty="0"/>
              <a:t> </a:t>
            </a:r>
            <a:r>
              <a:rPr lang="en-IN" dirty="0"/>
              <a:t>Name</a:t>
            </a:r>
            <a:r>
              <a:rPr lang="en-IN" b="1" dirty="0"/>
              <a:t> </a:t>
            </a:r>
            <a:r>
              <a:rPr lang="en-IN" dirty="0"/>
              <a:t>System is a system that translates human-readable domain names into IP addresses.</a:t>
            </a:r>
          </a:p>
          <a:p>
            <a:r>
              <a:rPr lang="en-IN" dirty="0"/>
              <a:t>Ex : when a website name is typed the device needs to determine the IP address associated with that domain.</a:t>
            </a:r>
          </a:p>
          <a:p>
            <a:r>
              <a:rPr lang="en-IN" dirty="0"/>
              <a:t> DHCP : Dynamic</a:t>
            </a:r>
            <a:r>
              <a:rPr lang="en-IN" b="1" dirty="0"/>
              <a:t> </a:t>
            </a:r>
            <a:r>
              <a:rPr lang="en-IN" dirty="0"/>
              <a:t>Host</a:t>
            </a:r>
            <a:r>
              <a:rPr lang="en-IN" b="1" dirty="0"/>
              <a:t> </a:t>
            </a:r>
            <a:r>
              <a:rPr lang="en-IN" dirty="0"/>
              <a:t>Configuration</a:t>
            </a:r>
            <a:r>
              <a:rPr lang="en-IN" b="1" dirty="0"/>
              <a:t> </a:t>
            </a:r>
            <a:r>
              <a:rPr lang="en-IN" dirty="0"/>
              <a:t>Protocol automatically provides network configuration information to devices joining a network.</a:t>
            </a:r>
          </a:p>
          <a:p>
            <a:r>
              <a:rPr lang="en-IN" dirty="0"/>
              <a:t>Ex : When you connect your smartphone or laptop to your home Wi-Fi, you normally don't manually enter an IP address.</a:t>
            </a:r>
          </a:p>
        </p:txBody>
      </p:sp>
    </p:spTree>
    <p:extLst>
      <p:ext uri="{BB962C8B-B14F-4D97-AF65-F5344CB8AC3E}">
        <p14:creationId xmlns:p14="http://schemas.microsoft.com/office/powerpoint/2010/main" val="84562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4209-9A09-71F5-C0C2-535F3A05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 : IP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2AF8A-9D4A-B2DB-B29C-CD3EA58B2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IP Addressing is a logical address assigned to a device connected to a network. It is used to identify the device and help deliver data to the correct destination.</a:t>
            </a:r>
          </a:p>
          <a:p>
            <a:r>
              <a:rPr lang="en-IN" dirty="0"/>
              <a:t>Types of IP Address</a:t>
            </a:r>
          </a:p>
          <a:p>
            <a:r>
              <a:rPr lang="en-IN" dirty="0"/>
              <a:t>IPv4 : IPv4 is the most commonly encountered IP addressing format. An IPv4 address consists of </a:t>
            </a:r>
            <a:r>
              <a:rPr lang="en-IN" b="1" dirty="0"/>
              <a:t>32 bits</a:t>
            </a:r>
            <a:r>
              <a:rPr lang="en-IN" dirty="0"/>
              <a:t>, divided into four groups called octets.</a:t>
            </a:r>
          </a:p>
          <a:p>
            <a:r>
              <a:rPr lang="en-IN" dirty="0"/>
              <a:t>IPV6 : IPv6 was developed to provide a much larger number of addresses than IPv4. An IPv6 address consists of 128</a:t>
            </a:r>
            <a:r>
              <a:rPr lang="en-IN" b="1" dirty="0"/>
              <a:t> </a:t>
            </a:r>
            <a:r>
              <a:rPr lang="en-IN" dirty="0"/>
              <a:t>bits.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77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0065-AA5D-D5C7-41FB-B4A355F8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7655-2922-48E7-3D93-1FCFEC87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832" y="698090"/>
            <a:ext cx="9704439" cy="6066503"/>
          </a:xfrm>
        </p:spPr>
        <p:txBody>
          <a:bodyPr>
            <a:normAutofit/>
          </a:bodyPr>
          <a:lstStyle/>
          <a:p>
            <a:r>
              <a:rPr lang="en-IN" dirty="0"/>
              <a:t>Public vs Private IP Address: A public</a:t>
            </a:r>
            <a:r>
              <a:rPr lang="en-IN" b="1" dirty="0"/>
              <a:t> </a:t>
            </a:r>
            <a:r>
              <a:rPr lang="en-IN" dirty="0"/>
              <a:t>IP</a:t>
            </a:r>
            <a:r>
              <a:rPr lang="en-IN" b="1" dirty="0"/>
              <a:t> </a:t>
            </a:r>
            <a:r>
              <a:rPr lang="en-IN" dirty="0"/>
              <a:t>address is an IP address that is used to identify a network or device on the public Internet.</a:t>
            </a:r>
          </a:p>
          <a:p>
            <a:r>
              <a:rPr lang="en-IN" dirty="0"/>
              <a:t>A private</a:t>
            </a:r>
            <a:r>
              <a:rPr lang="en-IN" b="1" dirty="0"/>
              <a:t> </a:t>
            </a:r>
            <a:r>
              <a:rPr lang="en-IN" dirty="0"/>
              <a:t>IP</a:t>
            </a:r>
            <a:r>
              <a:rPr lang="en-IN" b="1" dirty="0"/>
              <a:t> </a:t>
            </a:r>
            <a:r>
              <a:rPr lang="en-IN" dirty="0"/>
              <a:t>address is used inside a private network, such as a home, school, office, or organization.</a:t>
            </a:r>
          </a:p>
          <a:p>
            <a:r>
              <a:rPr lang="en-IN" dirty="0"/>
              <a:t>Ex : ISP-assigned address for public IP address and 192.168.1.10 is for private address</a:t>
            </a:r>
          </a:p>
          <a:p>
            <a:r>
              <a:rPr lang="en-IN" dirty="0"/>
              <a:t>Basic subnetting concept: Subnetting is the process of dividing a larger IP network into smaller logical networks called subnets.</a:t>
            </a:r>
          </a:p>
          <a:p>
            <a:r>
              <a:rPr lang="en-IN" dirty="0"/>
              <a:t>A subnet</a:t>
            </a:r>
            <a:r>
              <a:rPr lang="en-IN" b="1" dirty="0"/>
              <a:t> </a:t>
            </a:r>
            <a:r>
              <a:rPr lang="en-IN" dirty="0"/>
              <a:t>mask is used with an IPv4 address to determine which portion represents the network and which portion represents the host.</a:t>
            </a:r>
          </a:p>
          <a:p>
            <a:r>
              <a:rPr lang="en-IN" dirty="0"/>
              <a:t>Ex : normal network : 192.168.1.0/24 Subnet mask : 255.255.255.0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13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B42A-27B5-7B18-06D8-C22E582C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5 : NETWORK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DB0E4-44C7-150D-D999-AE94CD01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Ping google.com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D6C95-5F9C-B20B-0CF2-06D1F34F2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846" y="2777123"/>
            <a:ext cx="5524608" cy="310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875F-6B8C-A004-92E3-46E9345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8167A5-6E1C-2CF6-35EE-187667757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727" y="2287100"/>
            <a:ext cx="7524376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1302-3D80-32CF-AC3A-4F74653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Tracret google.com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611EC5-686E-AAD8-4057-7966DB9EC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808" y="1990115"/>
            <a:ext cx="7524376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8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21C2-4E15-95F8-3A3F-7E3E3A0E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6 : NETWORK SIMULATIONS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EB8A6CF-4476-9061-96A8-1AD943274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154" y="2357438"/>
            <a:ext cx="7106355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9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6568-AA62-692D-C150-0EFEB541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Ping 192.168.1.1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15AE1D-A72D-9B8F-B0F3-DA00B55AE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168" y="2224577"/>
            <a:ext cx="7106355" cy="3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9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CB95-67C5-1704-9A61-7E12C2DB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3244645"/>
            <a:ext cx="7958331" cy="1504336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5935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507</TotalTime>
  <Words>629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WEEK 1 TASK  NETWORK FUNDAMENTALS</vt:lpstr>
      <vt:lpstr>TASK 1 : OSI MODEL</vt:lpstr>
      <vt:lpstr>PowerPoint Presentation</vt:lpstr>
      <vt:lpstr>TASK 2 : TCP/IP</vt:lpstr>
      <vt:lpstr>Difference between OSI model and TCP/IP model</vt:lpstr>
      <vt:lpstr>TASK 3 : NETWORK PROTOCOLS</vt:lpstr>
      <vt:lpstr>TASK 4 : IP ADDRESSING</vt:lpstr>
      <vt:lpstr>PowerPoint Presentation</vt:lpstr>
      <vt:lpstr>TASK 5 : NETWORK COMMANDS</vt:lpstr>
      <vt:lpstr>IP Configuration</vt:lpstr>
      <vt:lpstr>Tracret google.com</vt:lpstr>
      <vt:lpstr>TASK 6 : NETWORK SIMULATIONS</vt:lpstr>
      <vt:lpstr>Ping 192.168.1.1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Amulya</dc:creator>
  <cp:lastModifiedBy>Sai Amulya</cp:lastModifiedBy>
  <cp:revision>17</cp:revision>
  <dcterms:created xsi:type="dcterms:W3CDTF">2026-09-01T08:07:59Z</dcterms:created>
  <dcterms:modified xsi:type="dcterms:W3CDTF">2026-09-06T16:14:42Z</dcterms:modified>
</cp:coreProperties>
</file>