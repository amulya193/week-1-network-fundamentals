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84" r:id="rId2"/>
    <p:sldId id="257" r:id="rId3"/>
    <p:sldId id="285" r:id="rId4"/>
    <p:sldId id="261" r:id="rId5"/>
    <p:sldId id="275" r:id="rId6"/>
    <p:sldId id="262" r:id="rId7"/>
    <p:sldId id="276" r:id="rId8"/>
    <p:sldId id="277" r:id="rId9"/>
    <p:sldId id="279" r:id="rId10"/>
    <p:sldId id="281" r:id="rId11"/>
    <p:sldId id="282" r:id="rId12"/>
    <p:sldId id="28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007533" y="0"/>
            <a:ext cx="7934348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" name="Rectangle 7"/>
          <p:cNvSpPr/>
          <p:nvPr/>
        </p:nvSpPr>
        <p:spPr>
          <a:xfrm>
            <a:off x="8941881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11808" y="3428998"/>
            <a:ext cx="5518066" cy="2268559"/>
          </a:xfrm>
        </p:spPr>
        <p:txBody>
          <a:bodyPr anchor="t">
            <a:normAutofit/>
          </a:bodyPr>
          <a:lstStyle>
            <a:lvl1pPr algn="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72274" y="2268786"/>
            <a:ext cx="5357600" cy="1160213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2DEBC-1969-485E-A6FA-648EE18E37D5}" type="datetimeFigureOut">
              <a:rPr lang="en-IN" smtClean="0"/>
              <a:t>06-09-2026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Ins="45720"/>
          <a:lstStyle/>
          <a:p>
            <a:fld id="{6930A18B-2097-43A1-BE1A-05DDCCFB49DB}" type="slidenum">
              <a:rPr lang="en-IN" smtClean="0"/>
              <a:t>‹#›</a:t>
            </a:fld>
            <a:endParaRPr lang="en-IN"/>
          </a:p>
        </p:txBody>
      </p:sp>
      <p:sp>
        <p:nvSpPr>
          <p:cNvPr id="13" name="TextBox 12"/>
          <p:cNvSpPr txBox="1"/>
          <p:nvPr/>
        </p:nvSpPr>
        <p:spPr>
          <a:xfrm>
            <a:off x="2191282" y="3262852"/>
            <a:ext cx="4156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24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06432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9" name="Rectangle 8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2DEBC-1969-485E-A6FA-648EE18E37D5}" type="datetimeFigureOut">
              <a:rPr lang="en-IN" smtClean="0"/>
              <a:t>06-09-2026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0A18B-2097-43A1-BE1A-05DDCCFB49DB}" type="slidenum">
              <a:rPr lang="en-IN" smtClean="0"/>
              <a:t>‹#›</a:t>
            </a:fld>
            <a:endParaRPr lang="en-IN"/>
          </a:p>
        </p:txBody>
      </p:sp>
      <p:sp>
        <p:nvSpPr>
          <p:cNvPr id="7" name="TextBox 6"/>
          <p:cNvSpPr txBox="1"/>
          <p:nvPr/>
        </p:nvSpPr>
        <p:spPr>
          <a:xfrm>
            <a:off x="2194943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9942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5" name="Rectangle 2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1" name="TextBox 10"/>
          <p:cNvSpPr txBox="1"/>
          <p:nvPr/>
        </p:nvSpPr>
        <p:spPr>
          <a:xfrm>
            <a:off x="2191843" y="296258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3147254"/>
            <a:ext cx="7956560" cy="1424746"/>
          </a:xfrm>
        </p:spPr>
        <p:txBody>
          <a:bodyPr anchor="t">
            <a:normAutofit/>
          </a:bodyPr>
          <a:lstStyle>
            <a:lvl1pPr algn="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968" y="2268786"/>
            <a:ext cx="7791931" cy="878468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2DEBC-1969-485E-A6FA-648EE18E37D5}" type="datetimeFigureOut">
              <a:rPr lang="en-IN" smtClean="0"/>
              <a:t>06-09-2026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0A18B-2097-43A1-BE1A-05DDCCFB49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310262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7" name="Rectangle 26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7"/>
            <a:ext cx="7950984" cy="10817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05374" y="2052116"/>
            <a:ext cx="3891960" cy="3997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66636" y="2052114"/>
            <a:ext cx="3894222" cy="39978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2DEBC-1969-485E-A6FA-648EE18E37D5}" type="datetimeFigureOut">
              <a:rPr lang="en-IN" smtClean="0"/>
              <a:t>06-09-2026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0A18B-2097-43A1-BE1A-05DDCCFB49DB}" type="slidenum">
              <a:rPr lang="en-IN" smtClean="0"/>
              <a:t>‹#›</a:t>
            </a:fld>
            <a:endParaRPr lang="en-IN"/>
          </a:p>
        </p:txBody>
      </p:sp>
      <p:sp>
        <p:nvSpPr>
          <p:cNvPr id="10" name="TextBox 9"/>
          <p:cNvSpPr txBox="1"/>
          <p:nvPr/>
        </p:nvSpPr>
        <p:spPr>
          <a:xfrm>
            <a:off x="2196172" y="641223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4817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1" name="Rectangle 20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2193650" y="636424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8"/>
            <a:ext cx="7956560" cy="107834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9285" y="2052115"/>
            <a:ext cx="3896467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09285" y="2851331"/>
            <a:ext cx="3893623" cy="30714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66634" y="2052115"/>
            <a:ext cx="3899798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66635" y="2851331"/>
            <a:ext cx="3899798" cy="30714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2DEBC-1969-485E-A6FA-648EE18E37D5}" type="datetimeFigureOut">
              <a:rPr lang="en-IN" smtClean="0"/>
              <a:t>06-09-2026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0A18B-2097-43A1-BE1A-05DDCCFB49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640930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4" name="Rectangle 13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2DEBC-1969-485E-A6FA-648EE18E37D5}" type="datetimeFigureOut">
              <a:rPr lang="en-IN" smtClean="0"/>
              <a:t>06-09-2026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0A18B-2097-43A1-BE1A-05DDCCFB49DB}" type="slidenum">
              <a:rPr lang="en-IN" smtClean="0"/>
              <a:t>‹#›</a:t>
            </a:fld>
            <a:endParaRPr lang="en-IN"/>
          </a:p>
        </p:txBody>
      </p:sp>
      <p:sp>
        <p:nvSpPr>
          <p:cNvPr id="8" name="TextBox 7"/>
          <p:cNvSpPr txBox="1"/>
          <p:nvPr/>
        </p:nvSpPr>
        <p:spPr>
          <a:xfrm>
            <a:off x="2196172" y="64122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6008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3" name="Rectangle 12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2DEBC-1969-485E-A6FA-648EE18E37D5}" type="datetimeFigureOut">
              <a:rPr lang="en-IN" smtClean="0"/>
              <a:t>06-09-2026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0A18B-2097-43A1-BE1A-05DDCCFB49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31695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6" name="Rectangle 2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0" name="TextBox 9"/>
          <p:cNvSpPr txBox="1"/>
          <p:nvPr/>
        </p:nvSpPr>
        <p:spPr>
          <a:xfrm>
            <a:off x="1554154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0323" y="1282451"/>
            <a:ext cx="2664361" cy="1903241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20154" y="805818"/>
            <a:ext cx="5446278" cy="52441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6154"/>
            <a:ext cx="2664361" cy="2386397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2DEBC-1969-485E-A6FA-648EE18E37D5}" type="datetimeFigureOut">
              <a:rPr lang="en-IN" smtClean="0"/>
              <a:t>06-09-2026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0A18B-2097-43A1-BE1A-05DDCCFB49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48689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0" name="Rectangle 19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47062" y="3229"/>
            <a:ext cx="4629734" cy="6858000"/>
          </a:xfr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1554686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1241" y="1282452"/>
            <a:ext cx="3970986" cy="1900473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2928"/>
            <a:ext cx="3971874" cy="2386394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2DEBC-1969-485E-A6FA-648EE18E37D5}" type="datetimeFigureOut">
              <a:rPr lang="en-IN" smtClean="0"/>
              <a:t>06-09-2026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0A18B-2097-43A1-BE1A-05DDCCFB49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849130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" name="Rectangle 1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9" name="TextBox 8"/>
          <p:cNvSpPr txBox="1"/>
          <p:nvPr/>
        </p:nvSpPr>
        <p:spPr>
          <a:xfrm>
            <a:off x="2194236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4091" cy="107722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2DEBC-1969-485E-A6FA-648EE18E37D5}" type="datetimeFigureOut">
              <a:rPr lang="en-IN" smtClean="0"/>
              <a:t>06-09-2026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0A18B-2097-43A1-BE1A-05DDCCFB49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705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" name="Rectangle 1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9" name="TextBox 8"/>
          <p:cNvSpPr txBox="1"/>
          <p:nvPr/>
        </p:nvSpPr>
        <p:spPr>
          <a:xfrm rot="5400000">
            <a:off x="10337141" y="416061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39380" y="805818"/>
            <a:ext cx="1326519" cy="5244126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608751" y="970410"/>
            <a:ext cx="6466903" cy="50795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2DEBC-1969-485E-A6FA-648EE18E37D5}" type="datetimeFigureOut">
              <a:rPr lang="en-IN" smtClean="0"/>
              <a:t>06-09-2026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30A18B-2097-43A1-BE1A-05DDCCFB49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9037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94" y="2105202"/>
            <a:ext cx="9360205" cy="4752798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867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8331" cy="10772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599" y="2052116"/>
            <a:ext cx="7796540" cy="3997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-810065" y="5270604"/>
            <a:ext cx="2662729" cy="182880"/>
          </a:xfrm>
          <a:prstGeom prst="rect">
            <a:avLst/>
          </a:prstGeom>
        </p:spPr>
        <p:txBody>
          <a:bodyPr vert="horz" lIns="91440" tIns="18288" rIns="91440" bIns="45720" rtlCol="0" anchor="t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6722DEBC-1969-485E-A6FA-648EE18E37D5}" type="datetimeFigureOut">
              <a:rPr lang="en-IN" smtClean="0"/>
              <a:t>06-09-2026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-2237130" y="3661144"/>
            <a:ext cx="5885352" cy="179176"/>
          </a:xfrm>
          <a:prstGeom prst="rect">
            <a:avLst/>
          </a:prstGeom>
        </p:spPr>
        <p:txBody>
          <a:bodyPr vert="horz" lIns="91440" tIns="45720" rIns="91440" bIns="18288" rtlCol="0" anchor="b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8407" y="164592"/>
            <a:ext cx="636727" cy="322851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30A18B-2097-43A1-BE1A-05DDCCFB49DB}" type="slidenum">
              <a:rPr lang="en-IN" smtClean="0"/>
              <a:t>‹#›</a:t>
            </a:fld>
            <a:endParaRPr lang="en-IN"/>
          </a:p>
        </p:txBody>
      </p:sp>
      <p:sp>
        <p:nvSpPr>
          <p:cNvPr id="57" name="Rectangle 56"/>
          <p:cNvSpPr/>
          <p:nvPr/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1328654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3400" b="0" i="0" kern="1200" cap="none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344488" indent="-344488" algn="l" defTabSz="914400" rtl="0" eaLnBrk="1" latinLnBrk="0" hangingPunct="1">
        <a:lnSpc>
          <a:spcPct val="120000"/>
        </a:lnSpc>
        <a:spcBef>
          <a:spcPts val="10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953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588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7097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1732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642616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3B1E4-919C-542D-5222-4A9E7F1659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44877" y="3028335"/>
            <a:ext cx="7925262" cy="1641988"/>
          </a:xfrm>
        </p:spPr>
        <p:txBody>
          <a:bodyPr>
            <a:normAutofit/>
          </a:bodyPr>
          <a:lstStyle/>
          <a:p>
            <a:pPr algn="ctr"/>
            <a:r>
              <a:rPr lang="en-IN" dirty="0"/>
              <a:t>WEEK 1 TASK </a:t>
            </a:r>
            <a:br>
              <a:rPr lang="en-IN" dirty="0"/>
            </a:br>
            <a:r>
              <a:rPr lang="en-IN" dirty="0"/>
              <a:t>NETWORK FUNDAMENTALS</a:t>
            </a:r>
          </a:p>
        </p:txBody>
      </p:sp>
    </p:spTree>
    <p:extLst>
      <p:ext uri="{BB962C8B-B14F-4D97-AF65-F5344CB8AC3E}">
        <p14:creationId xmlns:p14="http://schemas.microsoft.com/office/powerpoint/2010/main" val="13684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671A3-CAB3-9FD4-9A52-3594490ED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TASK 1 : OSI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F9A20E-AA0B-5DC4-2973-3C41AB2DF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OSI MODEL (OPEN SYSTEMS INTERCONNECTION) has 7 layers is a conceptual framework developed by the International</a:t>
            </a:r>
            <a:r>
              <a:rPr lang="en-IN" b="1" dirty="0"/>
              <a:t> </a:t>
            </a:r>
            <a:r>
              <a:rPr lang="en-IN" dirty="0"/>
              <a:t>Organization</a:t>
            </a:r>
            <a:r>
              <a:rPr lang="en-IN" b="1" dirty="0"/>
              <a:t> </a:t>
            </a:r>
            <a:r>
              <a:rPr lang="en-IN" dirty="0"/>
              <a:t>for</a:t>
            </a:r>
            <a:r>
              <a:rPr lang="en-IN" b="1" dirty="0"/>
              <a:t> </a:t>
            </a:r>
            <a:r>
              <a:rPr lang="en-IN" dirty="0"/>
              <a:t>Standardization</a:t>
            </a:r>
            <a:r>
              <a:rPr lang="en-IN" b="1" dirty="0"/>
              <a:t> </a:t>
            </a:r>
            <a:r>
              <a:rPr lang="en-IN" dirty="0"/>
              <a:t>(ISO) to explain how communication takes place between different devices over a network.</a:t>
            </a:r>
          </a:p>
          <a:p>
            <a:r>
              <a:rPr lang="en-IN" dirty="0"/>
              <a:t>The OSI model divides the network into 7 different layers. They are :</a:t>
            </a:r>
          </a:p>
        </p:txBody>
      </p:sp>
    </p:spTree>
    <p:extLst>
      <p:ext uri="{BB962C8B-B14F-4D97-AF65-F5344CB8AC3E}">
        <p14:creationId xmlns:p14="http://schemas.microsoft.com/office/powerpoint/2010/main" val="28733034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0E809-D643-34C4-F3A4-785D933A7E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B15A3A9-705C-C700-2FD8-122A04BE0C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8129" y="1023386"/>
            <a:ext cx="8200103" cy="5426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198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C8E89-F72A-1E18-517C-01529261B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TASK 2 : TCP/IP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6452C5-1D21-8F02-E6E8-25EC98DB85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27355" y="2052116"/>
            <a:ext cx="9242784" cy="3997828"/>
          </a:xfrm>
        </p:spPr>
        <p:txBody>
          <a:bodyPr/>
          <a:lstStyle/>
          <a:p>
            <a:r>
              <a:rPr lang="en-IN" sz="1800" dirty="0"/>
              <a:t>The TCP/IP (Transmission Control Protocol/Internet Protocol) Model is a networking framework used to describe how devices communicate over the Internet and other computer networks.</a:t>
            </a:r>
          </a:p>
          <a:p>
            <a:r>
              <a:rPr lang="en-IN" sz="1800" dirty="0"/>
              <a:t>the TCP/IP model commonly has 4 layers. They are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579E1339-7C03-8C28-A2EA-8071800741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1996" y="3175820"/>
            <a:ext cx="4944002" cy="3288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4992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332D4F-1ECF-4E92-F889-333702DD0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Difference between OSI model and TCP/IP model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B5491E0-F42F-3E07-4959-59E916484FD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9668306"/>
              </p:ext>
            </p:extLst>
          </p:nvPr>
        </p:nvGraphicFramePr>
        <p:xfrm>
          <a:off x="2419401" y="2023141"/>
          <a:ext cx="7796212" cy="482584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898106">
                  <a:extLst>
                    <a:ext uri="{9D8B030D-6E8A-4147-A177-3AD203B41FA5}">
                      <a16:colId xmlns:a16="http://schemas.microsoft.com/office/drawing/2014/main" val="4094213130"/>
                    </a:ext>
                  </a:extLst>
                </a:gridCol>
                <a:gridCol w="3898106">
                  <a:extLst>
                    <a:ext uri="{9D8B030D-6E8A-4147-A177-3AD203B41FA5}">
                      <a16:colId xmlns:a16="http://schemas.microsoft.com/office/drawing/2014/main" val="1016204193"/>
                    </a:ext>
                  </a:extLst>
                </a:gridCol>
              </a:tblGrid>
              <a:tr h="419895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OSI MODEL</a:t>
                      </a:r>
                    </a:p>
                  </a:txBody>
                  <a:tcPr marL="67793" marR="67793"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      TCP/IP MODEL</a:t>
                      </a:r>
                    </a:p>
                  </a:txBody>
                  <a:tcPr marL="67793" marR="67793"/>
                </a:tc>
                <a:extLst>
                  <a:ext uri="{0D108BD9-81ED-4DB2-BD59-A6C34878D82A}">
                    <a16:rowId xmlns:a16="http://schemas.microsoft.com/office/drawing/2014/main" val="3342924903"/>
                  </a:ext>
                </a:extLst>
              </a:tr>
              <a:tr h="419895">
                <a:tc>
                  <a:txBody>
                    <a:bodyPr/>
                    <a:lstStyle/>
                    <a:p>
                      <a:r>
                        <a:rPr lang="en-IN" dirty="0"/>
                        <a:t>Open Systems Interconnection</a:t>
                      </a:r>
                    </a:p>
                  </a:txBody>
                  <a:tcPr marL="67793" marR="67793"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Transmission Control Protocol/Internet Protocol</a:t>
                      </a:r>
                    </a:p>
                  </a:txBody>
                  <a:tcPr marL="67793" marR="67793"/>
                </a:tc>
                <a:extLst>
                  <a:ext uri="{0D108BD9-81ED-4DB2-BD59-A6C34878D82A}">
                    <a16:rowId xmlns:a16="http://schemas.microsoft.com/office/drawing/2014/main" val="2764924221"/>
                  </a:ext>
                </a:extLst>
              </a:tr>
              <a:tr h="419895">
                <a:tc>
                  <a:txBody>
                    <a:bodyPr/>
                    <a:lstStyle/>
                    <a:p>
                      <a:r>
                        <a:rPr lang="en-IN" dirty="0"/>
                        <a:t>The number of layers are 7</a:t>
                      </a:r>
                    </a:p>
                  </a:txBody>
                  <a:tcPr marL="67793" marR="67793"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The number of layers are 4</a:t>
                      </a:r>
                    </a:p>
                  </a:txBody>
                  <a:tcPr marL="67793" marR="67793"/>
                </a:tc>
                <a:extLst>
                  <a:ext uri="{0D108BD9-81ED-4DB2-BD59-A6C34878D82A}">
                    <a16:rowId xmlns:a16="http://schemas.microsoft.com/office/drawing/2014/main" val="2318167682"/>
                  </a:ext>
                </a:extLst>
              </a:tr>
              <a:tr h="419895">
                <a:tc>
                  <a:txBody>
                    <a:bodyPr/>
                    <a:lstStyle/>
                    <a:p>
                      <a:r>
                        <a:rPr lang="en-IN" dirty="0"/>
                        <a:t>It is developed by ISO</a:t>
                      </a:r>
                    </a:p>
                  </a:txBody>
                  <a:tcPr marL="67793" marR="67793"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It is developed by DARPA/DoD research community</a:t>
                      </a:r>
                    </a:p>
                  </a:txBody>
                  <a:tcPr marL="67793" marR="67793"/>
                </a:tc>
                <a:extLst>
                  <a:ext uri="{0D108BD9-81ED-4DB2-BD59-A6C34878D82A}">
                    <a16:rowId xmlns:a16="http://schemas.microsoft.com/office/drawing/2014/main" val="2621294236"/>
                  </a:ext>
                </a:extLst>
              </a:tr>
              <a:tr h="1364657">
                <a:tc>
                  <a:txBody>
                    <a:bodyPr/>
                    <a:lstStyle/>
                    <a:p>
                      <a:r>
                        <a:rPr lang="en-IN" dirty="0"/>
                        <a:t>It is mainly used for learning, design and troubleshooting</a:t>
                      </a:r>
                    </a:p>
                    <a:p>
                      <a:endParaRPr lang="en-IN" dirty="0"/>
                    </a:p>
                    <a:p>
                      <a:r>
                        <a:rPr lang="en-IN" dirty="0"/>
                        <a:t>It has separate layers </a:t>
                      </a:r>
                    </a:p>
                    <a:p>
                      <a:endParaRPr lang="en-IN" dirty="0"/>
                    </a:p>
                    <a:p>
                      <a:endParaRPr lang="en-IN" dirty="0"/>
                    </a:p>
                    <a:p>
                      <a:r>
                        <a:rPr lang="en-IN" dirty="0"/>
                        <a:t>The Model is protocol-independent</a:t>
                      </a:r>
                    </a:p>
                  </a:txBody>
                  <a:tcPr marL="67793" marR="67793"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It is widely used in real-world Internet networking.</a:t>
                      </a:r>
                    </a:p>
                    <a:p>
                      <a:endParaRPr lang="en-IN" dirty="0"/>
                    </a:p>
                    <a:p>
                      <a:r>
                        <a:rPr lang="en-IN" dirty="0"/>
                        <a:t>It has 4 layers, with some functions combined.</a:t>
                      </a:r>
                    </a:p>
                    <a:p>
                      <a:endParaRPr lang="en-IN" dirty="0"/>
                    </a:p>
                    <a:p>
                      <a:r>
                        <a:rPr lang="en-IN" dirty="0"/>
                        <a:t>It is built around protocols such as TCP, IP, UDP and HTTP.</a:t>
                      </a:r>
                    </a:p>
                  </a:txBody>
                  <a:tcPr marL="67793" marR="67793"/>
                </a:tc>
                <a:extLst>
                  <a:ext uri="{0D108BD9-81ED-4DB2-BD59-A6C34878D82A}">
                    <a16:rowId xmlns:a16="http://schemas.microsoft.com/office/drawing/2014/main" val="1253392874"/>
                  </a:ext>
                </a:extLst>
              </a:tr>
              <a:tr h="419895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 marL="67793" marR="67793"/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 marL="67793" marR="67793"/>
                </a:tc>
                <a:extLst>
                  <a:ext uri="{0D108BD9-81ED-4DB2-BD59-A6C34878D82A}">
                    <a16:rowId xmlns:a16="http://schemas.microsoft.com/office/drawing/2014/main" val="26741362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89785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2B9AD-006C-8066-B7AB-87E84FD04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TASK 3 : NETWORK PROTOCOLS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BF029D-3856-B69C-1AA7-A5DF2BED48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73599" y="2052115"/>
            <a:ext cx="7796540" cy="4465915"/>
          </a:xfrm>
        </p:spPr>
        <p:txBody>
          <a:bodyPr>
            <a:normAutofit fontScale="55000" lnSpcReduction="20000"/>
          </a:bodyPr>
          <a:lstStyle/>
          <a:p>
            <a:r>
              <a:rPr lang="en-IN" dirty="0"/>
              <a:t>A network</a:t>
            </a:r>
            <a:r>
              <a:rPr lang="en-IN" b="1" dirty="0"/>
              <a:t> </a:t>
            </a:r>
            <a:r>
              <a:rPr lang="en-IN" dirty="0"/>
              <a:t>protocol is a set of rules that defines how devices communicate and exchange data over a network.</a:t>
            </a:r>
          </a:p>
          <a:p>
            <a:r>
              <a:rPr lang="en-IN" dirty="0"/>
              <a:t> HTTP / HTTPS : Governs communication between web browsers and web servers</a:t>
            </a:r>
          </a:p>
          <a:p>
            <a:r>
              <a:rPr lang="en-IN" dirty="0"/>
              <a:t>Ex : When you visit a website such as a news website, your browser requests web pages, images, and other resources from the server.</a:t>
            </a:r>
          </a:p>
          <a:p>
            <a:r>
              <a:rPr lang="en-IN" dirty="0"/>
              <a:t> FTP : File</a:t>
            </a:r>
            <a:r>
              <a:rPr lang="en-IN" b="1" dirty="0"/>
              <a:t> </a:t>
            </a:r>
            <a:r>
              <a:rPr lang="en-IN" dirty="0"/>
              <a:t>Transfer</a:t>
            </a:r>
            <a:r>
              <a:rPr lang="en-IN" b="1" dirty="0"/>
              <a:t> </a:t>
            </a:r>
            <a:r>
              <a:rPr lang="en-IN" dirty="0"/>
              <a:t>Protocol is a protocol designed for transferring files between computers over a network.</a:t>
            </a:r>
          </a:p>
          <a:p>
            <a:r>
              <a:rPr lang="en-IN" dirty="0"/>
              <a:t>Ex : Suppose a web developer needs to upload website files to a hosting server. FTP can be used to transfer those files.</a:t>
            </a:r>
          </a:p>
          <a:p>
            <a:r>
              <a:rPr lang="en-IN" dirty="0"/>
              <a:t> DNS : Domain</a:t>
            </a:r>
            <a:r>
              <a:rPr lang="en-IN" b="1" dirty="0"/>
              <a:t> </a:t>
            </a:r>
            <a:r>
              <a:rPr lang="en-IN" dirty="0"/>
              <a:t>Name</a:t>
            </a:r>
            <a:r>
              <a:rPr lang="en-IN" b="1" dirty="0"/>
              <a:t> </a:t>
            </a:r>
            <a:r>
              <a:rPr lang="en-IN" dirty="0"/>
              <a:t>System is a system that translates human-readable domain names into IP addresses.</a:t>
            </a:r>
          </a:p>
          <a:p>
            <a:r>
              <a:rPr lang="en-IN" dirty="0"/>
              <a:t>Ex : when a website name is typed the device needs to determine the IP address associated with that domain.</a:t>
            </a:r>
          </a:p>
          <a:p>
            <a:r>
              <a:rPr lang="en-IN" dirty="0"/>
              <a:t> DHCP : Dynamic</a:t>
            </a:r>
            <a:r>
              <a:rPr lang="en-IN" b="1" dirty="0"/>
              <a:t> </a:t>
            </a:r>
            <a:r>
              <a:rPr lang="en-IN" dirty="0"/>
              <a:t>Host</a:t>
            </a:r>
            <a:r>
              <a:rPr lang="en-IN" b="1" dirty="0"/>
              <a:t> </a:t>
            </a:r>
            <a:r>
              <a:rPr lang="en-IN" dirty="0"/>
              <a:t>Configuration</a:t>
            </a:r>
            <a:r>
              <a:rPr lang="en-IN" b="1" dirty="0"/>
              <a:t> </a:t>
            </a:r>
            <a:r>
              <a:rPr lang="en-IN" dirty="0"/>
              <a:t>Protocol automatically provides network configuration information to devices joining a network.</a:t>
            </a:r>
          </a:p>
          <a:p>
            <a:r>
              <a:rPr lang="en-IN" dirty="0"/>
              <a:t>Ex : When you connect your smartphone or laptop to your home Wi-Fi, you normally don't manually enter an IP address.</a:t>
            </a:r>
          </a:p>
        </p:txBody>
      </p:sp>
    </p:spTree>
    <p:extLst>
      <p:ext uri="{BB962C8B-B14F-4D97-AF65-F5344CB8AC3E}">
        <p14:creationId xmlns:p14="http://schemas.microsoft.com/office/powerpoint/2010/main" val="8456263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24209-9A09-71F5-C0C2-535F3A05C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TASK 4 : IP ADDRESSING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2AF8A-9D4A-B2DB-B29C-CD3EA58B25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IP Addressing is a logical address assigned to a device connected to a network. It is used to identify the device and help deliver data to the correct destination.</a:t>
            </a:r>
          </a:p>
          <a:p>
            <a:r>
              <a:rPr lang="en-IN" dirty="0"/>
              <a:t>Types of IP Address</a:t>
            </a:r>
          </a:p>
          <a:p>
            <a:r>
              <a:rPr lang="en-IN" dirty="0"/>
              <a:t>IPv4 : IPv4 is the most commonly encountered IP addressing format. An IPv4 address consists of </a:t>
            </a:r>
            <a:r>
              <a:rPr lang="en-IN" b="1" dirty="0"/>
              <a:t>32 bits</a:t>
            </a:r>
            <a:r>
              <a:rPr lang="en-IN" dirty="0"/>
              <a:t>, divided into four groups called octets.</a:t>
            </a:r>
          </a:p>
          <a:p>
            <a:r>
              <a:rPr lang="en-IN" dirty="0"/>
              <a:t>IPV6 : IPv6 was developed to provide a much larger number of addresses than IPv4. An IPv6 address consists of 128</a:t>
            </a:r>
            <a:r>
              <a:rPr lang="en-IN" b="1" dirty="0"/>
              <a:t> </a:t>
            </a:r>
            <a:r>
              <a:rPr lang="en-IN" dirty="0"/>
              <a:t>bits.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007743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10065-AA5D-D5C7-41FB-B4A355F88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FB7655-2922-48E7-3D93-1FCFEC871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33832" y="698090"/>
            <a:ext cx="9704439" cy="6066503"/>
          </a:xfrm>
        </p:spPr>
        <p:txBody>
          <a:bodyPr>
            <a:normAutofit/>
          </a:bodyPr>
          <a:lstStyle/>
          <a:p>
            <a:r>
              <a:rPr lang="en-IN" dirty="0"/>
              <a:t>Public vs Private IP Address: A public</a:t>
            </a:r>
            <a:r>
              <a:rPr lang="en-IN" b="1" dirty="0"/>
              <a:t> </a:t>
            </a:r>
            <a:r>
              <a:rPr lang="en-IN" dirty="0"/>
              <a:t>IP</a:t>
            </a:r>
            <a:r>
              <a:rPr lang="en-IN" b="1" dirty="0"/>
              <a:t> </a:t>
            </a:r>
            <a:r>
              <a:rPr lang="en-IN" dirty="0"/>
              <a:t>address is an IP address that is used to identify a network or device on the public Internet.</a:t>
            </a:r>
          </a:p>
          <a:p>
            <a:r>
              <a:rPr lang="en-IN" dirty="0"/>
              <a:t>A private</a:t>
            </a:r>
            <a:r>
              <a:rPr lang="en-IN" b="1" dirty="0"/>
              <a:t> </a:t>
            </a:r>
            <a:r>
              <a:rPr lang="en-IN" dirty="0"/>
              <a:t>IP</a:t>
            </a:r>
            <a:r>
              <a:rPr lang="en-IN" b="1" dirty="0"/>
              <a:t> </a:t>
            </a:r>
            <a:r>
              <a:rPr lang="en-IN" dirty="0"/>
              <a:t>address is used inside a private network, such as a home, school, office, or organization.</a:t>
            </a:r>
          </a:p>
          <a:p>
            <a:r>
              <a:rPr lang="en-IN" dirty="0"/>
              <a:t>Ex : ISP-assigned address for public IP address and 192.168.1.10 is for private address</a:t>
            </a:r>
          </a:p>
          <a:p>
            <a:r>
              <a:rPr lang="en-IN" dirty="0"/>
              <a:t>Basic subnetting concept: Subnetting is the process of dividing a larger IP network into smaller logical networks called subnets.</a:t>
            </a:r>
          </a:p>
          <a:p>
            <a:r>
              <a:rPr lang="en-IN" dirty="0"/>
              <a:t>A subnet</a:t>
            </a:r>
            <a:r>
              <a:rPr lang="en-IN" b="1" dirty="0"/>
              <a:t> </a:t>
            </a:r>
            <a:r>
              <a:rPr lang="en-IN" dirty="0"/>
              <a:t>mask is used with an IPv4 address to determine which portion represents the network and which portion represents the host.</a:t>
            </a:r>
          </a:p>
          <a:p>
            <a:r>
              <a:rPr lang="en-IN" dirty="0"/>
              <a:t>Ex : normal network : 192.168.1.0/24 Subnet mask : 255.255.255.0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71339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BB42A-27B5-7B18-06D8-C22E582CC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TASK 5 : NETWORK COMMANDS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DB0E4-44C7-150D-D999-AE94CD019B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2219" y="1602658"/>
            <a:ext cx="9527920" cy="4447286"/>
          </a:xfrm>
        </p:spPr>
        <p:txBody>
          <a:bodyPr/>
          <a:lstStyle/>
          <a:p>
            <a:r>
              <a:rPr lang="en-IN" dirty="0"/>
              <a:t>Ping google.com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3D6C95-5F9C-B20B-0CF2-06D1F34F27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002" y="2550981"/>
            <a:ext cx="4646177" cy="3107592"/>
          </a:xfrm>
          <a:prstGeom prst="rect">
            <a:avLst/>
          </a:prstGeom>
        </p:spPr>
      </p:pic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C05E2A8A-AE73-0E3A-B5FE-E156130342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2309" y="2550982"/>
            <a:ext cx="5072141" cy="317232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2277878-0F92-4C2D-155B-05C11543C4D7}"/>
              </a:ext>
            </a:extLst>
          </p:cNvPr>
          <p:cNvSpPr txBox="1"/>
          <p:nvPr/>
        </p:nvSpPr>
        <p:spPr>
          <a:xfrm>
            <a:off x="7472516" y="1948639"/>
            <a:ext cx="21233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IP Configuration</a:t>
            </a:r>
          </a:p>
        </p:txBody>
      </p:sp>
    </p:spTree>
    <p:extLst>
      <p:ext uri="{BB962C8B-B14F-4D97-AF65-F5344CB8AC3E}">
        <p14:creationId xmlns:p14="http://schemas.microsoft.com/office/powerpoint/2010/main" val="1005634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31302-3D80-32CF-AC3A-4F746531C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Tracret google.com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A611EC5-686E-AAD8-4057-7966DB9ECD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1808" y="1990115"/>
            <a:ext cx="7524376" cy="3997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6831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321C2-4E15-95F8-3A3F-7E3E3A0EA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TASK 6 : NETWORK SIMULATIONS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EB8A6CF-4476-9061-96A8-1AD9432747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410" y="3982586"/>
            <a:ext cx="4485633" cy="2523169"/>
          </a:xfrm>
          <a:prstGeom prst="rect">
            <a:avLst/>
          </a:prstGeom>
        </p:spPr>
      </p:pic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C415AE1D-A72D-9B8F-B0F3-DA00B55AE5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5266" y="3981076"/>
            <a:ext cx="4640278" cy="261015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065A922-4DD9-3CCA-A080-42A1E5C90E6B}"/>
              </a:ext>
            </a:extLst>
          </p:cNvPr>
          <p:cNvSpPr txBox="1"/>
          <p:nvPr/>
        </p:nvSpPr>
        <p:spPr>
          <a:xfrm>
            <a:off x="1907458" y="2074606"/>
            <a:ext cx="24689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Ping 192.168.1.1</a:t>
            </a:r>
          </a:p>
        </p:txBody>
      </p:sp>
    </p:spTree>
    <p:extLst>
      <p:ext uri="{BB962C8B-B14F-4D97-AF65-F5344CB8AC3E}">
        <p14:creationId xmlns:p14="http://schemas.microsoft.com/office/powerpoint/2010/main" val="35523964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1CB95-67C5-1704-9A61-7E12C2DB3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1808" y="3244645"/>
            <a:ext cx="7958331" cy="1504336"/>
          </a:xfrm>
        </p:spPr>
        <p:txBody>
          <a:bodyPr/>
          <a:lstStyle/>
          <a:p>
            <a:pPr algn="ctr"/>
            <a:r>
              <a:rPr lang="en-IN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71593581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dison">
  <a:themeElements>
    <a:clrScheme name="Madison">
      <a:dk1>
        <a:sysClr val="windowText" lastClr="000000"/>
      </a:dk1>
      <a:lt1>
        <a:sysClr val="window" lastClr="FFFFFF"/>
      </a:lt1>
      <a:dk2>
        <a:srgbClr val="1F2D29"/>
      </a:dk2>
      <a:lt2>
        <a:srgbClr val="C5FAEB"/>
      </a:lt2>
      <a:accent1>
        <a:srgbClr val="A1D68B"/>
      </a:accent1>
      <a:accent2>
        <a:srgbClr val="5EC795"/>
      </a:accent2>
      <a:accent3>
        <a:srgbClr val="4DADCF"/>
      </a:accent3>
      <a:accent4>
        <a:srgbClr val="CDB756"/>
      </a:accent4>
      <a:accent5>
        <a:srgbClr val="E29C36"/>
      </a:accent5>
      <a:accent6>
        <a:srgbClr val="8EC0C1"/>
      </a:accent6>
      <a:hlink>
        <a:srgbClr val="6D9D9B"/>
      </a:hlink>
      <a:folHlink>
        <a:srgbClr val="6D8583"/>
      </a:folHlink>
    </a:clrScheme>
    <a:fontScheme name="Madison">
      <a:maj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dison" id="{025CB5FB-2DD3-45EE-B6F0-CC461540EB19}" vid="{6AC10936-2DFC-4054-9ADF-B5E2C5F8619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TM16401375[[fn=Madison]]</Template>
  <TotalTime>521</TotalTime>
  <Words>638</Words>
  <Application>Microsoft Office PowerPoint</Application>
  <PresentationFormat>Widescreen</PresentationFormat>
  <Paragraphs>63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MS Shell Dlg 2</vt:lpstr>
      <vt:lpstr>Wingdings</vt:lpstr>
      <vt:lpstr>Wingdings 3</vt:lpstr>
      <vt:lpstr>Madison</vt:lpstr>
      <vt:lpstr>WEEK 1 TASK  NETWORK FUNDAMENTALS</vt:lpstr>
      <vt:lpstr>TASK 1 : OSI MODEL</vt:lpstr>
      <vt:lpstr>PowerPoint Presentation</vt:lpstr>
      <vt:lpstr>TASK 2 : TCP/IP</vt:lpstr>
      <vt:lpstr>Difference between OSI model and TCP/IP model</vt:lpstr>
      <vt:lpstr>TASK 3 : NETWORK PROTOCOLS</vt:lpstr>
      <vt:lpstr>TASK 4 : IP ADDRESSING</vt:lpstr>
      <vt:lpstr>PowerPoint Presentation</vt:lpstr>
      <vt:lpstr>TASK 5 : NETWORK COMMANDS</vt:lpstr>
      <vt:lpstr>Tracret google.com</vt:lpstr>
      <vt:lpstr>TASK 6 : NETWORK SIMULATIONS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Sai Amulya</dc:creator>
  <cp:lastModifiedBy>Sai Amulya</cp:lastModifiedBy>
  <cp:revision>18</cp:revision>
  <dcterms:created xsi:type="dcterms:W3CDTF">2026-09-01T08:07:59Z</dcterms:created>
  <dcterms:modified xsi:type="dcterms:W3CDTF">2026-09-06T16:39:00Z</dcterms:modified>
</cp:coreProperties>
</file>